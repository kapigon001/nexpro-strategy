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配信は強み。その上にデータとAIを掛け合わせることで¥200B→¥2T市場のプレイヤーになれる。本日はこの戦略の承認と実行体制の決定を行います。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配信力は強みであり守るべき資産。問題は配信「だけ」に留まること。データとAIを掛けることで到達市場が桁違いに広がる。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売上2.7倍は野心的だが、Gate Reviewで段階検証する。新収益27%は配信の上にデータ×AIを載せた結果。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3つの追い風が同時に吹いている。日本SaaS浸透率4%、AI統合12-18ヶ月遅れ。この猶予は永続しない。SF Agentforce対応国内最先行の優位を活かす窓が今。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配信市場自体も成長中だが、データ・AIを掛けることで到達可能市場が桁違いに広がる。これが「掛け算」の意味。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右上の空白地帯が目標ポジション。ON24は機能は深いが日本適合が弱い。国内勢は逆。ネクプロは両方を持っている。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ON24はデータ活用が高いが導入が重い。ネクプロはテンプレ・伴走支援で障壁を下げつつデータ活用を高度化する。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3つのギアは順次実装。Gear1は既存業務の型化で即着手可能。Gear2がこの戦略の核心。Gear3はGear2の成果を前提に展開。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Gear1は既存業務の型化が中心。追加投資は最小限。業種別PKGとオンボーディング標準化は即着手可能。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エンゲージメントスコアMVPが最重要施策。視聴行動データを関心度スコアに変換し、SFの商談データと接続する。これが「配信×データ」の実体。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Gear3はGear2の成果を前提に展開。ON24のAI Propel+が先例：AIコンテンツで従来比7倍のエンゲージメント。Cventが¥400億で買収した価値がここにある。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FY24の+3.1%成長を正面から見せる。MRR+オプションだけでは横ばい。コンパウンド+営業DXの新収益柱がFY27で27%を占める計画。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全力投球ではなく、実績で信頼を獲得しながらギアを上げる。未達時のピボットルールを予め決めておくことが重要。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30名体制では全てを専任化できない。兼務→成果確認→専任化の段階アプローチ。KPIオーナー制度が実行の核心。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沈黙を恐れず一つずつ確認。「保留」は実質的に「窓が閉まるのを見ている」と同義。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想定Q&amp;A(10問)を準備済み。厳しい質問を歓迎する姿勢を見せる。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defRPr sz="4000" b="1">
                <a:solidFill>
                  <a:srgbClr val="FFFFFF"/>
                </a:solidFill>
                <a:latin typeface="IPAGothic"/>
              </a:defRPr>
            </a:pPr>
            <a:r>
              <a:t>ネクプロ 全社戦略提案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00"/>
              </a:lnSpc>
              <a:defRPr sz="3200" b="1">
                <a:solidFill>
                  <a:srgbClr val="C8A951"/>
                </a:solidFill>
                <a:latin typeface="IPAGothic"/>
              </a:defRPr>
            </a:pPr>
            <a:r>
              <a:t>配信 × データ ×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FFFFFF"/>
                </a:solidFill>
                <a:latin typeface="IPAGothic"/>
              </a:defRPr>
            </a:pPr>
            <a:r>
              <a:t>ウェビナーの先にある¥1兆市場を、最初に取りに行く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95A5A6"/>
                </a:solidFill>
                <a:latin typeface="IPAGothic"/>
              </a:defRPr>
            </a:pPr>
            <a:r>
              <a:t>2026年2月 | CEO + 全マネージャーMTG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結論：3つの掛け算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配信 × データ × AI ＝ ¥200B市場から¥2T市場へのプレイヤーになる切符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011680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IPAGothic"/>
              </a:defRPr>
            </a:pPr>
            <a:r>
              <a:t>配信（強み）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4114800" cy="118872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95A5A6"/>
                </a:solidFill>
                <a:latin typeface="IPAGothic"/>
              </a:defRPr>
            </a:pPr>
            <a:r>
              <a:t>現在の価値</a:t>
            </a:r>
          </a:p>
          <a:p>
            <a:pPr algn="l"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ウェビナー配信・擬似ライブ</a:t>
            </a:r>
            <a:br/>
            <a:r>
              <a:t>メディアサイト機能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03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1">
                <a:solidFill>
                  <a:srgbClr val="C8A951"/>
                </a:solidFill>
                <a:latin typeface="IPA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828800"/>
            <a:ext cx="4114800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掛け算後の価値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高品質な1stパーティ</a:t>
            </a:r>
            <a:br/>
            <a:r>
              <a:t>データの生成エンジン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2011680" cy="11887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IPAGothic"/>
              </a:defRPr>
            </a:pPr>
            <a:r>
              <a:t>× データ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3383280"/>
            <a:ext cx="4114800" cy="118872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95A5A6"/>
                </a:solidFill>
                <a:latin typeface="IPAGothic"/>
              </a:defRPr>
            </a:pPr>
            <a:r>
              <a:t>現在の価値</a:t>
            </a:r>
          </a:p>
          <a:p>
            <a:pPr algn="l"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視聴ログの蓄積</a:t>
            </a:r>
            <a:br/>
            <a:r>
              <a:t>（現在は未活用）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657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1">
                <a:solidFill>
                  <a:srgbClr val="C8A951"/>
                </a:solidFill>
                <a:latin typeface="IPA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383280"/>
            <a:ext cx="4114800" cy="11887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掛け算後の価値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エンゲージメントスコア</a:t>
            </a:r>
            <a:br/>
            <a:r>
              <a:t>→ 商談化予測 → SF連携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37760"/>
            <a:ext cx="2011680" cy="11887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IPAGothic"/>
              </a:defRPr>
            </a:pPr>
            <a:r>
              <a:t>×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937760"/>
            <a:ext cx="4114800" cy="118872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95A5A6"/>
                </a:solidFill>
                <a:latin typeface="IPAGothic"/>
              </a:defRPr>
            </a:pPr>
            <a:r>
              <a:t>現在の価値</a:t>
            </a:r>
          </a:p>
          <a:p>
            <a:pPr algn="l"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未実装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212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1">
                <a:solidFill>
                  <a:srgbClr val="C8A951"/>
                </a:solidFill>
                <a:latin typeface="IPAGothi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4937760"/>
            <a:ext cx="4114800" cy="11887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掛け算後の価値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日本語コンテンツ自動生成</a:t>
            </a:r>
            <a:br/>
            <a:r>
              <a:t>インテント分析・レコメンド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目標KPI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掛け算の成果を4つのKPIで測る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201168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FY24実績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FY27目標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変化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売上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¥512M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¥1,382M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2.7倍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ARPA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¥148K/月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¥204K/月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+38%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月次解約率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-0.7pt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新収益比率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27%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配信の上に積む新収益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2C3E50"/>
                </a:solidFill>
                <a:latin typeface="IPAGothic"/>
              </a:defRPr>
            </a:pPr>
            <a:r>
              <a:t>FY24 +3.1%の成長鈍化 → 掛け算なしでは¥1B突破は構造的に困難</a:t>
            </a:r>
            <a:br/>
            <a:r>
              <a:t>新収益（コンパウンド¥51M + 営業DX¥327M）がFY27で27%を占める計画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なぜ今か：窓が開いている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12-18ヶ月の機会ウィンドウ。閉まる前に動く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828800"/>
            <a:ext cx="365760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  1  競合の隙間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ON24 → Cvent買収で日本優先度低下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Zoom/Teams → AI搭載するが日本語適合が構造的に弱い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国内勢 → データ活用が浅い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「日本×高機能×データ」を埋めている企業がいない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828800"/>
            <a:ext cx="36576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  2  データの価値シフト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6517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3rdパーティCookie廃止 → 1stパーティデータ価値急増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ウェビナー = 行動・関心・熱量を直接取得できる稀有なチャネル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配信していること自体がデータ資産になる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365760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  3  市場の構造的拡大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6517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企業あたりウェビナー回数: 13→47回/年（3.6倍）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法人向け動画配信市場: CAGR 24.4%</a:t>
            </a:r>
          </a:p>
          <a:p>
            <a:pPr>
              <a:lnSpc>
                <a:spcPts val="14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• CRM/MA市場（¥4,190B）との接続で到達市場が桁違いに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日本法人向け動画配信市場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CAGR 24.4% — 配信市場は拡大中。さらにデータ接続でCRM/MA市場（¥4T+）に到達</a:t>
            </a:r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594360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2103120"/>
            <a:ext cx="502920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C8A951"/>
                </a:solidFill>
                <a:latin typeface="IPAGothic"/>
              </a:defRPr>
            </a:pPr>
            <a:r>
              <a:t>  配信単体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到達可能市場: ¥635B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動画配信市場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474720"/>
            <a:ext cx="5029200" cy="10972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C8A951"/>
                </a:solidFill>
                <a:latin typeface="IPAGothic"/>
              </a:defRPr>
            </a:pPr>
            <a:r>
              <a:t>  + データ接続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到達可能市場: ¥4,190B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+ CRM/MA市場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4846320"/>
            <a:ext cx="5029200" cy="10972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C8A951"/>
                </a:solidFill>
                <a:latin typeface="IPAGothic"/>
              </a:defRPr>
            </a:pPr>
            <a:r>
              <a:t>  + AI活用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到達可能市場: ¥2T+</a:t>
            </a:r>
          </a:p>
          <a:p>
            <a:pPr algn="l">
              <a:defRPr sz="1100" b="0">
                <a:solidFill>
                  <a:srgbClr val="FFFFFF"/>
                </a:solidFill>
                <a:latin typeface="IPAGothic"/>
              </a:defRPr>
            </a:pPr>
            <a:r>
              <a:t>  + デジタルマーケ全体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勝てる理由：空白ポジション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「高機能×日本適合×データ活用」の交差点は空白。ネクプロだけが到達可能</a:t>
            </a:r>
          </a:p>
        </p:txBody>
      </p:sp>
      <p:pic>
        <p:nvPicPr>
          <p:cNvPr id="6" name="Picture 5" descr="pos_ma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68580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1">
                <a:solidFill>
                  <a:srgbClr val="1B2A4A"/>
                </a:solidFill>
                <a:latin typeface="IPAGothic"/>
              </a:defRPr>
            </a:pPr>
            <a:r>
              <a:t>ON24レベルの機能深度</a:t>
            </a:r>
            <a:br/>
            <a:r>
              <a:t>× 国内勢レベルの日本適合性</a:t>
            </a:r>
            <a:br/>
            <a:br/>
            <a:r>
              <a:t>この交差点に到達できるのは</a:t>
            </a:r>
            <a:br/>
            <a:r>
              <a:t>ネクプロだけ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4114800"/>
          <a:ext cx="4572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配信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CRM連携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日本適合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データ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ネクプロ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○→◎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Zoom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ON24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国内勢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○-△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ポジショニングマップ(2): データ活用 × 導入容易性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「高データ活用×低障壁」のSweet Spotを狙う</a:t>
            </a:r>
          </a:p>
        </p:txBody>
      </p:sp>
      <p:pic>
        <p:nvPicPr>
          <p:cNvPr id="6" name="Picture 5" descr="pos_ma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掛け算の実装：3つのギア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配信を深め（Gear1）、データを載せ（Gear2）、AIで回す（Gear3）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828800"/>
            <a:ext cx="365760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1: 配信の深化</a:t>
            </a:r>
          </a:p>
          <a:p>
            <a:pPr algn="ctr">
              <a:defRPr sz="1000" b="0">
                <a:solidFill>
                  <a:srgbClr val="FFFFFF"/>
                </a:solidFill>
                <a:latin typeface="IPAGothic"/>
              </a:defRPr>
            </a:pPr>
            <a:r>
              <a:t>期間: 0-6M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3464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業種別PKG×4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オンボーディング標準化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CS→プロフィット化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ヘルススコア導入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846320"/>
            <a:ext cx="3657600" cy="82296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27AE60"/>
                </a:solidFill>
                <a:latin typeface="IPAGothic"/>
              </a:defRPr>
            </a:pPr>
            <a:r>
              <a:t>ゴール:</a:t>
            </a:r>
          </a:p>
          <a:p>
            <a:pPr algn="l"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解約率1.3%以下</a:t>
            </a:r>
            <a:br/>
            <a:r>
              <a:t>ARPA ¥160K以上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828800"/>
            <a:ext cx="3657600" cy="8229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2: データレイヤー</a:t>
            </a:r>
          </a:p>
          <a:p>
            <a:pPr algn="ctr">
              <a:defRPr sz="1000" b="0">
                <a:solidFill>
                  <a:srgbClr val="FFFFFF"/>
                </a:solidFill>
                <a:latin typeface="IPAGothic"/>
              </a:defRPr>
            </a:pPr>
            <a:r>
              <a:t>期間: 0-12M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83464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スコアMVP開発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SF連携強化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価格3層化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商談化接続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4846320"/>
            <a:ext cx="3657600" cy="82296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3498DB"/>
                </a:solidFill>
                <a:latin typeface="IPAGothic"/>
              </a:defRPr>
            </a:pPr>
            <a:r>
              <a:t>ゴール:</a:t>
            </a:r>
          </a:p>
          <a:p>
            <a:pPr algn="l"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スコアMVP 5社</a:t>
            </a:r>
            <a:br/>
            <a:r>
              <a:t>SF連携率80%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657600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3: AIレイヤー</a:t>
            </a:r>
          </a:p>
          <a:p>
            <a:pPr algn="ctr">
              <a:defRPr sz="1000" b="0">
                <a:solidFill>
                  <a:srgbClr val="FFFFFF"/>
                </a:solidFill>
                <a:latin typeface="IPAGothic"/>
              </a:defRPr>
            </a:pPr>
            <a:r>
              <a:t>期間: 6-18M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3464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AIコンテンツ生成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インテント分析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API-first化</a:t>
            </a:r>
          </a:p>
          <a:p>
            <a:pPr>
              <a:lnSpc>
                <a:spcPts val="1400"/>
              </a:lnSpc>
              <a:defRPr sz="1100" b="0">
                <a:solidFill>
                  <a:srgbClr val="2C3E50"/>
                </a:solidFill>
                <a:latin typeface="IPAGothic"/>
              </a:defRPr>
            </a:pPr>
            <a:r>
              <a:t>• HubSpot/Marketo連携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846320"/>
            <a:ext cx="3657600" cy="822960"/>
          </a:xfrm>
          <a:prstGeom prst="roundRect">
            <a:avLst/>
          </a:prstGeom>
          <a:solidFill>
            <a:srgbClr val="F2F3F5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1B2A4A"/>
                </a:solidFill>
                <a:latin typeface="IPAGothic"/>
              </a:defRPr>
            </a:pPr>
            <a:r>
              <a:t>ゴール:</a:t>
            </a:r>
          </a:p>
          <a:p>
            <a:pPr algn="l"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新収益比率15%超</a:t>
            </a:r>
            <a:br/>
            <a:r>
              <a:t>3層稼働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943600"/>
            <a:ext cx="11612880" cy="54864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0350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00"/>
              </a:lnSpc>
              <a:defRPr sz="800" b="1">
                <a:solidFill>
                  <a:srgbClr val="1B2A4A"/>
                </a:solidFill>
                <a:latin typeface="IPAGothic"/>
              </a:defRPr>
            </a:pPr>
            <a:r>
              <a:t>M0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0350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00"/>
              </a:lnSpc>
              <a:defRPr sz="800" b="1">
                <a:solidFill>
                  <a:srgbClr val="1B2A4A"/>
                </a:solidFill>
                <a:latin typeface="IPAGothic"/>
              </a:defRPr>
            </a:pPr>
            <a:r>
              <a:t>M6</a:t>
            </a:r>
            <a:br/>
            <a:r>
              <a:t>Gate1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0350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00"/>
              </a:lnSpc>
              <a:defRPr sz="800" b="1">
                <a:solidFill>
                  <a:srgbClr val="1B2A4A"/>
                </a:solidFill>
                <a:latin typeface="IPAGothic"/>
              </a:defRPr>
            </a:pPr>
            <a:r>
              <a:t>M12</a:t>
            </a:r>
            <a:br/>
            <a:r>
              <a:t>Gate2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0350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00"/>
              </a:lnSpc>
              <a:defRPr sz="800" b="1">
                <a:solidFill>
                  <a:srgbClr val="1B2A4A"/>
                </a:solidFill>
                <a:latin typeface="IPAGothic"/>
              </a:defRPr>
            </a:pPr>
            <a:r>
              <a:t>M18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Gear 1: 配信の深化（0-6ヶ月）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強みをさらに強くする — 止血と基盤固め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828800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施策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成果KPI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業種別パッケージ×4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IT/製造/金融/医療のテンプレ+運用ガイド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成約率+5pt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オンボーディング標準化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60日内完了率90%を目標に型化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解約率改善の基盤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CS→プロフィットセンター化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伴走支援を収益化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CS起点年¥30M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ヘルススコア導入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利用データで解約予兆を検知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解約予測精度70%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CS/Prod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0" y="5029200"/>
            <a:ext cx="6675120" cy="10972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1 ゴール（Gate 1基準）</a:t>
            </a:r>
          </a:p>
          <a:p>
            <a:pPr algn="ctr">
              <a:defRPr sz="1200" b="0">
                <a:solidFill>
                  <a:srgbClr val="FFFFFF"/>
                </a:solidFill>
                <a:latin typeface="IPAGothic"/>
              </a:defRPr>
            </a:pPr>
            <a:r>
              <a:t>月次解約率: 1.7% → 1.3%以下 / ARPA: ¥148K → ¥160K以上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Gear 2: データレイヤーの構築（0-12ヶ月）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配信の上にデータを載せる — この戦略の核心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828800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施策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成果KPI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エンゲージメントスコアMVP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視聴行動→関心度スコア→SF連携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5社導入、ARPA+20%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Salesforce連携強化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Agentforce深化、双方向データ同期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連携率80%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価格体系3層化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Base（配信）+ Data（分析）+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ARPA+15%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商談化接続強化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スコア→商談化率の因果接続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商談化寄与額の可視化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営業/CS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0" y="5029200"/>
            <a:ext cx="6675120" cy="10972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2 ゴール（Gate 2基準）</a:t>
            </a:r>
          </a:p>
          <a:p>
            <a:pPr algn="ctr">
              <a:defRPr sz="1200" b="0">
                <a:solidFill>
                  <a:srgbClr val="FFFFFF"/>
                </a:solidFill>
                <a:latin typeface="IPAGothic"/>
              </a:defRPr>
            </a:pPr>
            <a:r>
              <a:t>スコアMVP 5社導入 / SF連携率80% / 「配信×データ」の価値実証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Gear 3: AIレイヤーの実装（6-18ヶ月）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データの上にAIを載せる — 市場拡張フェーズ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828800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施策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成果KPI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AI日本語コンテンツ自動生成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ウェビナー→ブログ/メール/SNS/FAQ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採用率30%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インテント分析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行動データからの購買意欲推定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データpt 40+/人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API-first化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外部連携の基盤整備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API網羅率80%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HubSpot/Marketo連携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SF以外のMA/CRM展開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新規20社/年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Prod/営業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0" y="5029200"/>
            <a:ext cx="667512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IPAGothic"/>
              </a:defRPr>
            </a:pPr>
            <a:r>
              <a:t>Gear 3 ゴール（Gate 3基準）</a:t>
            </a:r>
          </a:p>
          <a:p>
            <a:pPr algn="ctr">
              <a:defRPr sz="1200" b="0">
                <a:solidFill>
                  <a:srgbClr val="FFFFFF"/>
                </a:solidFill>
                <a:latin typeface="IPAGothic"/>
              </a:defRPr>
            </a:pPr>
            <a:r>
              <a:t>新収益比率15%超 / 「配信×データ×AI」の3層が稼働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売上推移と成長率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FY24 +3.1%成長鈍化 → 掛け算で新収益柱を積む</a:t>
            </a:r>
          </a:p>
        </p:txBody>
      </p:sp>
      <p:pic>
        <p:nvPicPr>
          <p:cNvPr id="6" name="Picture 5" descr="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Gate Reviewで段階検証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仮説ではなくファクトでギアを上げる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828800"/>
          <a:ext cx="116128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963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判定KPI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基準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達成時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未達時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スコアMVP導入社数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5社以上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Gear3本格化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延長・修正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月次解約率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≤1.3%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投資継続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CS施策見直し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ARPA（長期）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≥¥160K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投資継続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価格再検討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2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M12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新収益比率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15%超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組織拡大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ピボット検討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営業DX売上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≥¥15M/半期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投資拡大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縮小検討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3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M24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売上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¥1Bペース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成長加速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戦略再設計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C0392B"/>
                </a:solidFill>
                <a:latin typeface="IPAGothic"/>
              </a:defRPr>
            </a:pPr>
            <a:r>
              <a:t>Gate Reviewは「計画通りか」ではなく「投資を続けるべきか」をファクトベースに判断する場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組織とガバナンス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兼務→成果確認→専任化 / KPIオーナー制で実行を担保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82880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51206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アクション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KPIオーナー全員アサイン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各KPIに個人名を紐付け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M1-3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PMM機能（兼務）スタート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競合レポート月次化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M3-6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RevOps機能（兼務）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ファネル可視化100%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M6-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成果確認→専任化（採用+3-5名）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1結果で判断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75488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会議体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目的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経営KPIレビュー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KPI進捗と阻害要因の特定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戦略レビュー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四半期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ギアの進捗と方向性確認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M6/M12/M24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投資継続・拡大の判断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86800" y="228600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CEO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347472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PMM</a:t>
            </a:r>
            <a:br/>
            <a:r>
              <a:t>(兼務)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47472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RevOps</a:t>
            </a:r>
            <a:br/>
            <a:r>
              <a:t>(兼務)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347472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475488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Sales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75488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24160" y="4754880"/>
            <a:ext cx="128016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IPAGothic"/>
              </a:defRPr>
            </a:pPr>
            <a:r>
              <a:t>AI/Data</a:t>
            </a:r>
            <a:br/>
            <a:r>
              <a:t>(採用)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本日決めること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12880" cy="457200"/>
          </a:xfrm>
          <a:prstGeom prst="rect">
            <a:avLst/>
          </a:prstGeom>
          <a:solidFill>
            <a:srgbClr val="F2F3F5"/>
          </a:solidFill>
          <a:ln w="254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B2A4A"/>
                </a:solidFill>
                <a:latin typeface="IPAGothic"/>
              </a:defRPr>
            </a:pPr>
            <a:r>
              <a:t>今日決めなければ「窓が閉まるのを見ているだけ」になる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914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" y="1828800"/>
            <a:ext cx="5486400" cy="914400"/>
          </a:xfrm>
          <a:prstGeom prst="rect">
            <a:avLst/>
          </a:prstGeom>
          <a:solidFill>
            <a:srgbClr val="12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C8A951"/>
                </a:solidFill>
                <a:latin typeface="IPAGothic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掛け算戦略の承認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95A5A6"/>
                </a:solidFill>
                <a:latin typeface="IPAGothic"/>
              </a:defRPr>
            </a:pPr>
            <a:r>
              <a:t>配信×データ×AIの3ギア実装を承認するか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73152" cy="914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926080"/>
            <a:ext cx="5486400" cy="914400"/>
          </a:xfrm>
          <a:prstGeom prst="rect">
            <a:avLst/>
          </a:prstGeom>
          <a:solidFill>
            <a:srgbClr val="12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71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C8A951"/>
                </a:solidFill>
                <a:latin typeface="IPAGothic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71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投資配分の承認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383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95A5A6"/>
                </a:solidFill>
                <a:latin typeface="IPAGothic"/>
              </a:defRPr>
            </a:pPr>
            <a:r>
              <a:t>プロダクト45% / GTM35% / 組織20%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73152" cy="914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" y="4023360"/>
            <a:ext cx="5486400" cy="914400"/>
          </a:xfrm>
          <a:prstGeom prst="rect">
            <a:avLst/>
          </a:prstGeom>
          <a:solidFill>
            <a:srgbClr val="12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C8A951"/>
                </a:solidFill>
                <a:latin typeface="IPAGothic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69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FFFFFF"/>
                </a:solidFill>
                <a:latin typeface="IPAGothic"/>
              </a:defRPr>
            </a:pPr>
            <a:r>
              <a:t>組織再編の承認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80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95A5A6"/>
                </a:solidFill>
                <a:latin typeface="IPAGothic"/>
              </a:defRPr>
            </a:pPr>
            <a:r>
              <a:t>PMM/RevOps兼務新設 + KPIオーナー制 + Gate Review設定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28800"/>
          <a:ext cx="53035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アクション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担当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期限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KPIオーナーアサイン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1週間以内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PMM兼務者決定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マネージャー会議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2週間以内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スコアMVP要件定義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プロダクト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1ヶ月以内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業種別PKG設計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1ヶ月以内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Gate Review 1 日程確定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1週間以内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>
                <a:solidFill>
                  <a:srgbClr val="C8A951"/>
                </a:solidFill>
                <a:latin typeface="IPAGothic"/>
              </a:defRPr>
            </a:pPr>
            <a:r>
              <a:t>配信 × データ ×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defRPr sz="2000" b="0">
                <a:solidFill>
                  <a:srgbClr val="FFFFFF"/>
                </a:solidFill>
                <a:latin typeface="IPAGothic"/>
              </a:defRPr>
            </a:pPr>
            <a:r>
              <a:t>ウェビナーの先にある¥1兆市場を、最初に取りに行く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売上内訳詳細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645920"/>
          <a:ext cx="1161287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2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FY22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FY23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FY25P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FY26P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FY27P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売上合計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¥418M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¥497M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¥512M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¥649M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¥911M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¥1,382M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YoY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+19.0%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+3.1%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+26.7%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+40.3%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+51.6%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MRR年額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¥225M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¥252M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¥287M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¥330M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¥417M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¥526M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オプション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¥192M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¥244M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¥225M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¥283M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¥355M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¥477M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コンパウンド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¥17M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¥51M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営業DX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¥33M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¥121M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¥327M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SaaS KPI推移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33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FY22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FY23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FY24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目標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長期PFアカウント数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ARPA長期(千円/月)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¥137.6K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¥148.0K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¥204K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月次解約率(長期)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3.6%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1.7%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新規長期PF成約/年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成約率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10.5%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2C3E50"/>
                </a:solidFill>
                <a:latin typeface="IPAGothic"/>
              </a:defRPr>
            </a:pPr>
            <a:r>
              <a:t>SaaS優良企業の目安: 月次解約率 &lt; 0.42%（年5%以下）</a:t>
            </a:r>
            <a:br/>
            <a:r>
              <a:t>ネクプロは改善トレンドにあるが、Gear1の施策で1.0%到達を目指す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SWOT分析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828800"/>
            <a:ext cx="5669280" cy="2286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FFFFFF"/>
                </a:solidFill>
                <a:latin typeface="IPAGothic"/>
              </a:defRPr>
            </a:pPr>
            <a:r>
              <a:t>S（配信力が強み）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1. ITreview 13期連続受賞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2. SF Agentforce国内最先行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3. 400-500社エンタープライズ基盤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4. 日本語運用ノウハウ・伴走支援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5. 擬似ライブ・メディアサイト機能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669280" cy="2286000"/>
          </a:xfrm>
          <a:prstGeom prst="round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2C3E50"/>
                </a:solidFill>
                <a:latin typeface="IPAGothic"/>
              </a:defRPr>
            </a:pPr>
            <a:r>
              <a:t>W（規模とリソース）</a:t>
            </a:r>
          </a:p>
          <a:p>
            <a:pPr algn="l">
              <a:defRPr sz="900" b="0">
                <a:solidFill>
                  <a:srgbClr val="2C3E50"/>
                </a:solidFill>
                <a:latin typeface="IPAGothic"/>
              </a:defRPr>
            </a:pPr>
            <a:r>
              <a:t>1. 30名の少数精鋭体制</a:t>
            </a:r>
          </a:p>
          <a:p>
            <a:pPr algn="l">
              <a:defRPr sz="900" b="0">
                <a:solidFill>
                  <a:srgbClr val="2C3E50"/>
                </a:solidFill>
                <a:latin typeface="IPAGothic"/>
              </a:defRPr>
            </a:pPr>
            <a:r>
              <a:t>2. 総調達額¥7.5億</a:t>
            </a:r>
          </a:p>
          <a:p>
            <a:pPr algn="l">
              <a:defRPr sz="900" b="0">
                <a:solidFill>
                  <a:srgbClr val="2C3E50"/>
                </a:solidFill>
                <a:latin typeface="IPAGothic"/>
              </a:defRPr>
            </a:pPr>
            <a:r>
              <a:t>3. ブランド認知度劣後</a:t>
            </a:r>
          </a:p>
          <a:p>
            <a:pPr algn="l">
              <a:defRPr sz="900" b="0">
                <a:solidFill>
                  <a:srgbClr val="2C3E50"/>
                </a:solidFill>
                <a:latin typeface="IPAGothic"/>
              </a:defRPr>
            </a:pPr>
            <a:r>
              <a:t>4. インテントデータ未整備</a:t>
            </a:r>
          </a:p>
          <a:p>
            <a:pPr algn="l">
              <a:defRPr sz="900" b="0">
                <a:solidFill>
                  <a:srgbClr val="2C3E50"/>
                </a:solidFill>
                <a:latin typeface="IPAGothic"/>
              </a:defRPr>
            </a:pPr>
            <a:r>
              <a:t>5. PMM/RevOps機能の不在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4297680"/>
            <a:ext cx="5669280" cy="2286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FFFFFF"/>
                </a:solidFill>
                <a:latin typeface="IPAGothic"/>
              </a:defRPr>
            </a:pPr>
            <a:r>
              <a:t>O（窓が開いている）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1. AI統合12-18ヶ月遅れ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2. ON24→Cvent買収で日本優先度低下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3. Cookie廃止→1stパーティ価値増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4. SaaS浸透率4%（DX余地大）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5. ウェビナー数3.6倍増(13→47回/年)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297680"/>
            <a:ext cx="5669280" cy="22860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FFFFFF"/>
                </a:solidFill>
                <a:latin typeface="IPAGothic"/>
              </a:defRPr>
            </a:pPr>
            <a:r>
              <a:t>T（窓は閉まる）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1. Zoom/Teams AI搭載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2. 配信コモディティ化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3. Cvent大型統合(ON24+Goldcast)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4. 価格競争激化</a:t>
            </a:r>
          </a:p>
          <a:p>
            <a:pPr algn="l">
              <a:defRPr sz="900" b="0">
                <a:solidFill>
                  <a:srgbClr val="FFFFFF"/>
                </a:solidFill>
                <a:latin typeface="IPAGothic"/>
              </a:defRPr>
            </a:pPr>
            <a:r>
              <a:t>5. 汎用AIで差別化希薄化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ON24ベンチマーク — 掛け算の先例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64592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609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ON24実績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PAGothic"/>
                        </a:defRPr>
                      </a:pPr>
                      <a:r>
                        <a:t>示唆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AI Propel+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自動ブログ/メール/SNS/FAQ生成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コンテンツ二次活用が鍵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エンゲージメント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AIコンテンツで従来比7倍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データ駆動の効果は実証済み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デモリクエスト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パーソナライズで4倍増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個別最適化がCVR向上に直結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動画クリップ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YoY +2,903%（13万本+）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ウェビナー→ショート動画変換が主流に</a:t>
                      </a:r>
                    </a:p>
                  </a:txBody>
                  <a:tcPr>
                    <a:solidFill>
                      <a:srgbClr val="F2F3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Cvent買収額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ON24 ¥400億+Goldcast ¥300億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IPAGothic"/>
                        </a:defRPr>
                      </a:pPr>
                      <a:r>
                        <a:t>エンゲージメントデータの市場評価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想定Q&amp;A（厳しい質問10選）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Q1: 30名で同時実行できるのか？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3ギアは並行ではなく順次。Gear1は既存業務の型化。Gate Reviewで実行可能性を検証。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Q2: 結局ウェビナーツールの延長では？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スコアMVP×SF商談接続は「配信の先」。ON24(Cvent ¥400億で買収)が先例。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Q3: 営業DX ¥327Mは絵に描いた餅？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FY25 ¥33Mがシード。Gate基準¥15M/半期。未達時ピボット。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Q4: Zoom/TeamsのAI搭載で勝てるか？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日本適合は構造的に弱い。12-18ヶ月で「配信×データ」ポジションを確立。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Q5: SF依存は危険？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依存ではなくエコシステム活用。Agentforce国内最先行。中期でHubSpot/Marketo展開。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400" b="1">
                <a:solidFill>
                  <a:srgbClr val="FFFFFF"/>
                </a:solidFill>
                <a:latin typeface="IPAGothic"/>
              </a:defRPr>
            </a:pPr>
            <a:r>
              <a:t>Appendix: 想定Q&amp;A（続き）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Q6: 解約率1.0%は現実的？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FY22:3.6%→FY24:1.7%と改善中。Gate基準は1.3%(バッファ付き)。3施策で到達可能。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Q7: PMM/RevOps兼務で機能する？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30名で専任は非現実的。兼務3-6ヶ月→成果で専任化。Gate Reviewで判断。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Q8: 配信の価値は本当に続くか？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企業ウェビナー数13→47回に急増。配信需要は拡大中。データ×AIを掛けてさらに価値を高める。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Q9: bizibl/FanGrowthとの差別化？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「簡単・安い」vs「データ深度×SF×伴走」。競合軸が異なり価格競争は回避。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1B2A4A"/>
                </a:solidFill>
                <a:latin typeface="IPAGothic"/>
              </a:defRPr>
            </a:pPr>
            <a:r>
              <a:t>Q10: なぜ掛け算で市場が¥200B→¥2Tに？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2C3E50"/>
                </a:solidFill>
                <a:latin typeface="IPAGothic"/>
              </a:defRPr>
            </a:pPr>
            <a:r>
              <a:t>→ 配信=動画市場。+データ=CRM/MA市場。+AI=デジタルマーケ全体。ON24/Cvent時価総額がその証左。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800" b="0">
                <a:solidFill>
                  <a:srgbClr val="95A5A6"/>
                </a:solidFill>
                <a:latin typeface="IPA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