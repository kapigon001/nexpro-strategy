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本資料は経営層・マネージャー全員で共有し、本日3つの意思決定を行うための戦略提案書です。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冒頭で「今日のゴール」を共有。議論が散漫にならないよう最後にこの3つに戻ります。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結論を先に。ネクプロの勝ち筋は「配信競争から離脱し、エンゲージメントデータ×SF連携で唯一の存在になる」こと。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SaaSpocalypseの数字で危機感を醸成。ただし「日本には時間がある」と次スライドで希望も示します。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日本のAI統合は12-18ヶ月遅れ。これはネクプロの猶予時間だが永続しない。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FY24の+3.1%成長を正面から見せる。新収益柱がFY27で27%を占める計画。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解約率1.7%(年換算18.5%)はSaaS優良企業の目安(年5%以下)を大幅超過。改善トレンドはあるが施策が必要。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W×T象限が最大リスク：何もしなければ3年で地位喪失。S×O象限で「SF×AI先行でデータモート構築」が勝ち筋。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SWOTは整理ツールではなく戦略の出発点。この4象限から重点施策が導かれます。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ネクプロはMA/CRM連携と日本語適合で強い。データ分析とAI機能が投資ポイント。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右上の「高機能×高適合」象限は空白。ON24は機能は深いが日本適合が弱い。国内勢は逆。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ON24はデータ活用高いが導入が重い。ネクプロはテンプレ・伴走で障壁を下げつつデータ活用を高度化。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15課題をMECE整理。最優先2つ：エンゲージメントスコア実装と解約率改善。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散漫にならないよう最優先5課題にフォーカス。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3案を公平に提示。竹案を推奨する理由は次スライドで説明。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「やらないこと」の明示が重要。30名体制では全てはできない。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Reviewは「計画通りか」ではなく「投資を続けるべきか」を判断する場。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A1とA2が0-6ヶ月の最優先。A3以降は中期で順次。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B1(業種別PKG)とC1(オンボーディング標準化)は即着手可能。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D4(KPIオーナー制度)は来週着手可能。各KPIに個人名を紐付ける。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最初の6ヶ月に最も具体的な情報。Gate Reviewのタイミングを明示。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KPIオーナーを個人名で紐付けることが核心。月次レビューで進捗管理。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沈黙を恐れず一つずつ確認。「保留」は実質的に「不承認」と同義であることを伝える。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想定Q&amp;A(10問)を準備済み。厳しい質問を歓迎する姿勢を見せる。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財務詳細。FY25以降は計画値。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解約率の改善トレンドは続いているが、ベストプラクティスとの差は依然大きい。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動画配信市場はCAGR24.4%で急成長中。デジタルマーケも14%成長。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各社の特徴を整理。ネクプロの差別化ポイントは「日本×データ×SF連携」。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ON24の数字は「エンゲージメントデータ基盤」の市場価値を実証している。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Q1-Q5。Q6-Q10は次スライド。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Q6-Q10。全質問に対し具体的数値と論拠で回答可能。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4000" b="1">
                <a:solidFill>
                  <a:srgbClr val="FFFFFF"/>
                </a:solidFill>
                <a:latin typeface="IPAGothic"/>
              </a:defRPr>
            </a:pPr>
            <a:r>
              <a:t>ネクプロ 全社戦略提案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FFFFFF"/>
                </a:solidFill>
                <a:latin typeface="IPAGothic"/>
              </a:defRPr>
            </a:pPr>
            <a:r>
              <a:t>ウェビナーツールから</a:t>
            </a:r>
            <a:br/>
            <a:r>
              <a:t>B2Bエンゲージメント・インテリジェンス基盤へ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95A5A6"/>
                </a:solidFill>
                <a:latin typeface="IPAGothic"/>
              </a:defRPr>
            </a:pPr>
            <a:r>
              <a:t>2026年2月 | 経営層・マネージャーMTG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本日の意思決定事項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「決めないこと」は「現状維持を選ぶこと」と同義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118872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828800"/>
            <a:ext cx="10515600" cy="1188720"/>
          </a:xfrm>
          <a:prstGeom prst="rect">
            <a:avLst/>
          </a:prstGeom>
          <a:solidFill>
            <a:srgbClr val="12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C8A951"/>
                </a:solidFill>
                <a:latin typeface="IPAGothi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659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FFFFF"/>
                </a:solidFill>
                <a:latin typeface="IPAGothic"/>
              </a:defRPr>
            </a:pPr>
            <a:r>
              <a:t>重点投資領域の資源配分承認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146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95A5A6"/>
                </a:solidFill>
                <a:latin typeface="IPAGothic"/>
              </a:defRPr>
            </a:pPr>
            <a:r>
              <a:t>プロダクト45% / GTM35% / 組織20%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73152" cy="118872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3291840"/>
            <a:ext cx="10515600" cy="1188720"/>
          </a:xfrm>
          <a:prstGeom prst="rect">
            <a:avLst/>
          </a:prstGeom>
          <a:solidFill>
            <a:srgbClr val="12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C8A951"/>
                </a:solidFill>
                <a:latin typeface="IPAGothic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4290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FFFFF"/>
                </a:solidFill>
                <a:latin typeface="IPAGothic"/>
              </a:defRPr>
            </a:pPr>
            <a:r>
              <a:t>事業ポジショニング転換の承認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977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95A5A6"/>
                </a:solidFill>
                <a:latin typeface="IPAGothic"/>
              </a:defRPr>
            </a:pPr>
            <a:r>
              <a:t>ウェビナーツール → B2Bエンゲージメント・インテリジェンス基盤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73152" cy="118872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754880"/>
            <a:ext cx="10515600" cy="1188720"/>
          </a:xfrm>
          <a:prstGeom prst="rect">
            <a:avLst/>
          </a:prstGeom>
          <a:solidFill>
            <a:srgbClr val="12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C8A951"/>
                </a:solidFill>
                <a:latin typeface="IPA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892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FFFFF"/>
                </a:solidFill>
                <a:latin typeface="IPAGothic"/>
              </a:defRPr>
            </a:pPr>
            <a:r>
              <a:t>組織再編の承認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4406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95A5A6"/>
                </a:solidFill>
                <a:latin typeface="IPAGothic"/>
              </a:defRPr>
            </a:pPr>
            <a:r>
              <a:t>PMM/RevOps新設、KPIオーナー制度、90日実行計画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エグゼクティブサマリー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「配信ツール」に留まれば淘汰される。「データ基盤」に転換すれば勝てる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300" b="0">
                <a:solidFill>
                  <a:srgbClr val="2C3E50"/>
                </a:solidFill>
                <a:latin typeface="IPAGothic"/>
              </a:defRPr>
            </a:pPr>
            <a:r>
              <a:t>• AIエージェント時代、SaaS UIレイヤーは圧縮。データレイヤーの価値が増大</a:t>
            </a:r>
          </a:p>
          <a:p>
            <a:pPr>
              <a:lnSpc>
                <a:spcPts val="1600"/>
              </a:lnSpc>
              <a:defRPr sz="1300" b="0">
                <a:solidFill>
                  <a:srgbClr val="2C3E50"/>
                </a:solidFill>
                <a:latin typeface="IPAGothic"/>
              </a:defRPr>
            </a:pPr>
            <a:r>
              <a:t>• ネクプロの勝ち筋：Salesforce × エンゲージメントデータで唯一の存在に</a:t>
            </a:r>
          </a:p>
          <a:p>
            <a:pPr>
              <a:lnSpc>
                <a:spcPts val="1600"/>
              </a:lnSpc>
              <a:defRPr sz="1300" b="0">
                <a:solidFill>
                  <a:srgbClr val="2C3E50"/>
                </a:solidFill>
                <a:latin typeface="IPAGothic"/>
              </a:defRPr>
            </a:pPr>
            <a:r>
              <a:t>• 推奨：「竹」戦略で6ヶ月実証 → Gate Review → 「松」へ段階移行</a:t>
            </a:r>
          </a:p>
          <a:p>
            <a:pPr>
              <a:lnSpc>
                <a:spcPts val="1600"/>
              </a:lnSpc>
              <a:defRPr sz="1300" b="0">
                <a:solidFill>
                  <a:srgbClr val="2C3E50"/>
                </a:solidFill>
                <a:latin typeface="IPAGothic"/>
              </a:defRPr>
            </a:pPr>
            <a:r>
              <a:t>• FY27目標：売上¥1,382M（FY24比2.7倍）、月次解約率1.0%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2011680"/>
          <a:ext cx="4846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FY24実績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FY27目標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売上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¥512M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¥1,382M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ARPA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¥148K/月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¥204K/月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月次解約率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新収益比率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600"/>
              </a:lnSpc>
              <a:defRPr sz="7200" b="1">
                <a:solidFill>
                  <a:srgbClr val="C8A951"/>
                </a:solidFill>
                <a:latin typeface="IPA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IPAGothic"/>
              </a:defRPr>
            </a:pPr>
            <a:r>
              <a:t>外部環境分析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95A5A6"/>
                </a:solidFill>
                <a:latin typeface="IPAGothic"/>
              </a:defRPr>
            </a:pPr>
            <a:r>
              <a:t>AIエージェント時代のSaaS構造変化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SaaS中間層の圧縮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AIエージェントはUIレイヤーを不要にするが、データレイヤーの価値は増大する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9144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PAGothic"/>
              </a:defRPr>
            </a:pPr>
            <a:r>
              <a:t>AIエージェント層（実行） ↑拡大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029200" cy="914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PAGothic"/>
              </a:defRPr>
            </a:pPr>
            <a:r>
              <a:t>SaaS UIレイヤー（圧縮対象） ←→圧縮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502920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PAGothic"/>
              </a:defRPr>
            </a:pPr>
            <a:r>
              <a:t>データ基盤層（価値増大） ↑拡大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01168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ファクト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数値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SaaS株価消失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$2,850億(約42兆円)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バーティカルSaaS下落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-43%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ワークフローSaaS下落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AIエージェントPJ中止予測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40%+(2027年末)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日本SaaS浸透率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4%(米国15-18%)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日本市場の構造的特性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SaaS浸透率4%の日本は12-18ヶ月の先行者優位。今動けば間に合う</a:t>
            </a:r>
          </a:p>
        </p:txBody>
      </p:sp>
      <p:pic>
        <p:nvPicPr>
          <p:cNvPr id="6" name="Picture 5" descr="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59436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2011680"/>
            <a:ext cx="5029200" cy="8229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B2A4A"/>
                </a:solidFill>
                <a:latin typeface="IPAGothic"/>
              </a:defRPr>
            </a:pPr>
            <a:r>
              <a:t>🛡 SaaS浸透率 4%（米国15-18%）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063240"/>
            <a:ext cx="5029200" cy="8229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B2A4A"/>
                </a:solidFill>
                <a:latin typeface="IPAGothic"/>
              </a:defRPr>
            </a:pPr>
            <a:r>
              <a:t>🛡 日本語選好 72%のバイヤー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114800"/>
            <a:ext cx="5029200" cy="8229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B2A4A"/>
                </a:solidFill>
                <a:latin typeface="IPAGothic"/>
              </a:defRPr>
            </a:pPr>
            <a:r>
              <a:t>🛡 デジタル人材不足 230万人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166360"/>
            <a:ext cx="5029200" cy="8229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1B2A4A"/>
                </a:solidFill>
                <a:latin typeface="IPAGothic"/>
              </a:defRPr>
            </a:pPr>
            <a:r>
              <a:t>🛡 商習慣の壁（稟議・根回し文化）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600"/>
              </a:lnSpc>
              <a:defRPr sz="7200" b="1">
                <a:solidFill>
                  <a:srgbClr val="C8A951"/>
                </a:solidFill>
                <a:latin typeface="IPA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IPAGothic"/>
              </a:defRPr>
            </a:pPr>
            <a:r>
              <a:t>自社現状分析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95A5A6"/>
                </a:solidFill>
                <a:latin typeface="IPAGothic"/>
              </a:defRPr>
            </a:pPr>
            <a:r>
              <a:t>定量データが示す「安定基盤と成長の踊り場」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売上・成長推移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FY24成長率+3.1%。新収益柱なしでは¥1B突破は構造的に困難</a:t>
            </a:r>
          </a:p>
        </p:txBody>
      </p:sp>
      <p:pic>
        <p:nvPicPr>
          <p:cNvPr id="6" name="Picture 5" descr="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SaaS KPI課題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月次解約率1.7%(年換算18.5%)は「バケツの穴」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FY23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FY25計画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長期PFアカウント数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ARPA長期(千円/月)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¥137.6K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¥148.0K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¥168.7K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月次解約率(長期)</a:t>
                      </a:r>
                    </a:p>
                  </a:txBody>
                  <a:tcPr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2.3%</a:t>
                      </a:r>
                    </a:p>
                  </a:txBody>
                  <a:tcPr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1.7%</a:t>
                      </a:r>
                    </a:p>
                  </a:txBody>
                  <a:tcPr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1.0%(目標)</a:t>
                      </a:r>
                    </a:p>
                  </a:txBody>
                  <a:tcPr>
                    <a:solidFill>
                      <a:srgbClr val="FADBD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新規長期PF成約/年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成約率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月間商談数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~44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~23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~44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~34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SWOT分析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「データモート」が唯一の持続的優位性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5669280" cy="2286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IPAGothic"/>
              </a:defRPr>
            </a:pPr>
            <a:r>
              <a:t>S（強み）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1. ITreview 13期連続受賞の製品品質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2. Salesforce Agentforce国内最先行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3. 400-500社エンタープライズ顧客基盤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4. 日本語運用ノウハウ・伴走支援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5. 擬似ライブ配信・メディアサイト機能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669280" cy="22860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2C3E50"/>
                </a:solidFill>
                <a:latin typeface="IPAGothic"/>
              </a:defRPr>
            </a:pPr>
            <a:r>
              <a:t>W（弱み）</a:t>
            </a:r>
          </a:p>
          <a:p>
            <a:pPr algn="l">
              <a:defRPr sz="900" b="0">
                <a:solidFill>
                  <a:srgbClr val="2C3E50"/>
                </a:solidFill>
                <a:latin typeface="IPAGothic"/>
              </a:defRPr>
            </a:pPr>
            <a:r>
              <a:t>1. 30名の少数精鋭体制</a:t>
            </a:r>
          </a:p>
          <a:p>
            <a:pPr algn="l">
              <a:defRPr sz="900" b="0">
                <a:solidFill>
                  <a:srgbClr val="2C3E50"/>
                </a:solidFill>
                <a:latin typeface="IPAGothic"/>
              </a:defRPr>
            </a:pPr>
            <a:r>
              <a:t>2. 総調達額¥7.5億(対Zoom/ON24比)</a:t>
            </a:r>
          </a:p>
          <a:p>
            <a:pPr algn="l">
              <a:defRPr sz="900" b="0">
                <a:solidFill>
                  <a:srgbClr val="2C3E50"/>
                </a:solidFill>
                <a:latin typeface="IPAGothic"/>
              </a:defRPr>
            </a:pPr>
            <a:r>
              <a:t>3. ブランド認知度(Zoom,V-CUBEに劣後)</a:t>
            </a:r>
          </a:p>
          <a:p>
            <a:pPr algn="l">
              <a:defRPr sz="900" b="0">
                <a:solidFill>
                  <a:srgbClr val="2C3E50"/>
                </a:solidFill>
                <a:latin typeface="IPAGothic"/>
              </a:defRPr>
            </a:pPr>
            <a:r>
              <a:t>4. インテントデータ未整備(ON24は40-50pt/人)</a:t>
            </a:r>
          </a:p>
          <a:p>
            <a:pPr algn="l">
              <a:defRPr sz="900" b="0">
                <a:solidFill>
                  <a:srgbClr val="2C3E50"/>
                </a:solidFill>
                <a:latin typeface="IPAGothic"/>
              </a:defRPr>
            </a:pPr>
            <a:r>
              <a:t>5. PMM/RevOps機能の不在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297680"/>
            <a:ext cx="5669280" cy="2286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IPAGothic"/>
              </a:defRPr>
            </a:pPr>
            <a:r>
              <a:t>O（機会）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1. 国内AI統合12-18ヶ月遅れ(先行者優位)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2. ON24のCvent買収→日本市場優先度低下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3. 3rdパーティCookie廃止→1stパーティデータ価値増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4. 日本B2B DX余地(SaaS浸透率4%)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5. 企業ウェビナー数急増(13→47回/年)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669280" cy="2286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IPAGothic"/>
              </a:defRPr>
            </a:pPr>
            <a:r>
              <a:t>T（脅威）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1. Zoom/Webex/TeamsのAIエージェント搭載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2. AIによる配信機能コモディティ化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3. Cvent大型統合(ON24¥400億+Goldcast¥300億)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4. 価格競争激化(bizibl/Cocripo低価格攻勢)</a:t>
            </a:r>
          </a:p>
          <a:p>
            <a:pPr algn="l">
              <a:defRPr sz="900" b="0">
                <a:solidFill>
                  <a:srgbClr val="FFFFFF"/>
                </a:solidFill>
                <a:latin typeface="IPAGothic"/>
              </a:defRPr>
            </a:pPr>
            <a:r>
              <a:t>5. 汎用AIで差別化の希薄化リスク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クロスSWOT戦略示唆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S×Oの「データモート構築」とW×Tの「最大リスク回避」が戦略の両輪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116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371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機会(O)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脅威(T)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強み(S)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SF統合×AI先行で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「データモート」構築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→エンゲージメントスコアMVP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日本適合性×伴走支援で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グローバル勢と差別化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→業種別パッケージ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弱み(W)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少数精鋭×AI遅れの隙間で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ニッチ勝ち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→SF顧客に選択と集中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【最大リスク】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資金・人材不足×コモディティ化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→何もしなければ地位喪失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競合比較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「日本×データ」の空白ポジションが存在する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828800"/>
          <a:ext cx="1161287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2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評価軸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ネクプロ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Zoom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ON24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EventHub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bizibl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FanGrowth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配信品質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MA/CRM連携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日本語適合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データ分析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AI機能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価格柔軟性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導入支援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ポジショニングマップ(1): 機能深度 × 日本企業適合性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右上の「高機能×高適合」象限は空白。ネクプロが唯一到達可能</a:t>
            </a:r>
          </a:p>
        </p:txBody>
      </p:sp>
      <p:pic>
        <p:nvPicPr>
          <p:cNvPr id="6" name="Picture 5" descr="pos_ma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ポジショニングマップ(2): データ活用高度性 × 導入容易性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「高データ活用×低障壁」のSweet Spotを狙う</a:t>
            </a:r>
          </a:p>
        </p:txBody>
      </p:sp>
      <p:pic>
        <p:nvPicPr>
          <p:cNvPr id="6" name="Picture 5" descr="pos_ma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600"/>
              </a:lnSpc>
              <a:defRPr sz="7200" b="1">
                <a:solidFill>
                  <a:srgbClr val="C8A951"/>
                </a:solidFill>
                <a:latin typeface="IPA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IPAGothic"/>
              </a:defRPr>
            </a:pPr>
            <a:r>
              <a:t>重要課題のMECE整理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95A5A6"/>
                </a:solidFill>
                <a:latin typeface="IPAGothic"/>
              </a:defRPr>
            </a:pPr>
            <a:r>
              <a:t>6視点 × 緊急度 × インパクト × 難易度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全社課題マップ（MECE）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最優先は「エンゲージメントデータ基盤化」と「解約率改善」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PAGothic"/>
              </a:defRPr>
            </a:pPr>
            <a:r>
              <a:t>市場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468880"/>
            <a:ext cx="1828800" cy="13716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AI時代の事業再定義遅れ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114800"/>
            <a:ext cx="1828800" cy="13716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ウェビナー市場コモディティ化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2880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PAGothic"/>
              </a:defRPr>
            </a:pPr>
            <a:r>
              <a:t>顧客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468880"/>
            <a:ext cx="1828800" cy="13716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成果指標(商談化)接続が弱い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4114800"/>
            <a:ext cx="1828800" cy="13716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利用深度のばらつき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82880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PAGothic"/>
              </a:defRPr>
            </a:pPr>
            <a:r>
              <a:t>プロダクト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468880"/>
            <a:ext cx="1828800" cy="13716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エンゲージメントスコア未実装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114800"/>
            <a:ext cx="1828800" cy="13716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AI自動生成未実装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82880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PAGothic"/>
              </a:defRPr>
            </a:pPr>
            <a:r>
              <a:t>GTM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468880"/>
            <a:ext cx="1828800" cy="13716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業種別テンプレ不足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114800"/>
            <a:ext cx="1828800" cy="13716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価格体系が旧来型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82880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PAGothic"/>
              </a:defRPr>
            </a:pPr>
            <a:r>
              <a:t>組織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2468880"/>
            <a:ext cx="1828800" cy="13716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PMM機能の不在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4114800"/>
            <a:ext cx="1828800" cy="13716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30名体制ボトルネック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PAGothic"/>
              </a:defRPr>
            </a:pPr>
            <a:r>
              <a:t>財務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2468880"/>
            <a:ext cx="1828800" cy="13716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新収益柱の実行リスク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4114800"/>
            <a:ext cx="1828800" cy="13716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LTV拡張余地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17920"/>
            <a:ext cx="2743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2C3E50"/>
                </a:solidFill>
                <a:latin typeface="IPAGothic"/>
              </a:defRPr>
            </a:pPr>
            <a:r>
              <a:t>= 最優先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6217920"/>
            <a:ext cx="274320" cy="27432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2C3E50"/>
                </a:solidFill>
                <a:latin typeface="IPAGothic"/>
              </a:defRPr>
            </a:pPr>
            <a:r>
              <a:t>= 重要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優先度マトリクス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象限Iの5課題に90%のマネジメント注力を配分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45720" cy="43891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6217920"/>
            <a:ext cx="10058400" cy="457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0">
                <a:solidFill>
                  <a:srgbClr val="2C3E50"/>
                </a:solidFill>
                <a:latin typeface="IPAGothic"/>
              </a:defRPr>
            </a:pPr>
            <a:r>
              <a:t>高</a:t>
            </a:r>
            <a:br/>
            <a:r>
              <a:t>緊急度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669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0">
                <a:solidFill>
                  <a:srgbClr val="2C3E50"/>
                </a:solidFill>
                <a:latin typeface="IPAGothic"/>
              </a:defRPr>
            </a:pPr>
            <a:r>
              <a:t>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2C3E50"/>
                </a:solidFill>
                <a:latin typeface="IPAGothic"/>
              </a:defRPr>
            </a:pPr>
            <a:r>
              <a:t>高 財務インパクト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103120"/>
            <a:ext cx="347472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エンゲージメントスコアMVP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880360"/>
            <a:ext cx="347472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解約率改善(1.7%→1.0%)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657600"/>
            <a:ext cx="347472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事業価値再定義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434840"/>
            <a:ext cx="347472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PMM新設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5212079"/>
            <a:ext cx="347472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商談化接続強化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286000"/>
            <a:ext cx="3200400" cy="5486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CS→プロフィット化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200400"/>
            <a:ext cx="3200400" cy="5486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価格再設計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5029200"/>
            <a:ext cx="320040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新収益柱管理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5760720"/>
            <a:ext cx="320040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AI自動生成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600"/>
              </a:lnSpc>
              <a:defRPr sz="7200" b="1">
                <a:solidFill>
                  <a:srgbClr val="C8A951"/>
                </a:solidFill>
                <a:latin typeface="IPA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IPAGothic"/>
              </a:defRPr>
            </a:pPr>
            <a:r>
              <a:t>戦略オプション比較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95A5A6"/>
                </a:solidFill>
                <a:latin typeface="IPAGothic"/>
              </a:defRPr>
            </a:pPr>
            <a:r>
              <a:t>3つの道 — 守るか、備えるか、攻めるか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3つの戦略オプション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「竹」で6ヶ月実証し、KPI達成を条件に「松」へ段階移行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82880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715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梅：防衛型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竹：均衡型【推奨】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松：攻勢型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コンセプト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既存効率最大化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既存深耕+データ拡張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基盤転換+組織再編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投資規模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現行維持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+30-50%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+80-100%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FY27売上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¥740M(仮説)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¥930M(仮説)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¥1,382M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プロダクト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UI改善のみ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スコアMVP+AI要約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フルスタック転換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GTM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効率化のみ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業種別PKG+CS高度化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新セグメント+価格再設計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組織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現行維持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PMM兼務設置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PMM/RevOps正式新設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リスク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低→高(中長期)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推奨戦略の論拠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全力投球ではなく、実績で信頼を獲得しながらギアを上げる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474720" cy="1097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C8A951"/>
                </a:solidFill>
                <a:latin typeface="IPAGothic"/>
              </a:defRPr>
            </a:pPr>
            <a:r>
              <a:t> 1  キャッシュ耐性</a:t>
            </a:r>
          </a:p>
          <a:p>
            <a:pPr algn="l">
              <a:defRPr sz="1100" b="0">
                <a:solidFill>
                  <a:srgbClr val="FFFFFF"/>
                </a:solidFill>
                <a:latin typeface="IPAGothic"/>
              </a:defRPr>
            </a:pPr>
            <a:r>
              <a:t>    30名・¥7.5億で全方位投資は自殺行為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474720" cy="1097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C8A951"/>
                </a:solidFill>
                <a:latin typeface="IPAGothic"/>
              </a:defRPr>
            </a:pPr>
            <a:r>
              <a:t> 2  小さく証明</a:t>
            </a:r>
          </a:p>
          <a:p>
            <a:pPr algn="l">
              <a:defRPr sz="1100" b="0">
                <a:solidFill>
                  <a:srgbClr val="FFFFFF"/>
                </a:solidFill>
                <a:latin typeface="IPAGothic"/>
              </a:defRPr>
            </a:pPr>
            <a:r>
              <a:t>    MVP 6ヶ月→5社実証→本格投資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474720" cy="1097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C8A951"/>
                </a:solidFill>
                <a:latin typeface="IPAGothic"/>
              </a:defRPr>
            </a:pPr>
            <a:r>
              <a:t> 3  段階構築</a:t>
            </a:r>
          </a:p>
          <a:p>
            <a:pPr algn="l">
              <a:defRPr sz="1100" b="0">
                <a:solidFill>
                  <a:srgbClr val="FFFFFF"/>
                </a:solidFill>
                <a:latin typeface="IPAGothic"/>
              </a:defRPr>
            </a:pPr>
            <a:r>
              <a:t>    兼務→成果確認→専任化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29184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やること ✓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やらないこと ✗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エンゲージメントスコアMVP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汎用AIチャットボット開発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Salesforce連携深化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HubSpot/Marketo(中期以降)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業種別ソリューション化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低価格競争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CS→プロフィットセンター化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機能の無秩序追加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解約率改善(1.7%→1.0%)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新規大量獲得(質を優先)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段階移行の判断基準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6ヶ月後のGate Reviewでファクトベースに松案移行を判断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Gate基準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達成時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未達時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スコアMVP導入社数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5社以上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松案移行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竹延長・修正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月次解約率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≤1.3%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松案移行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CS施策見直し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ARPA(長期)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≥¥160K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松案移行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価格体系再検討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営業DX売上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≥¥15M/半期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投資拡大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ピボット検討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371600" y="5029200"/>
            <a:ext cx="9144000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1B2A4A"/>
                </a:solidFill>
                <a:latin typeface="IPAGothic"/>
              </a:defRPr>
            </a:pPr>
            <a:r>
              <a:t>M0</a:t>
            </a:r>
            <a:br/>
            <a:r>
              <a:t>開始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754880"/>
            <a:ext cx="228600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IPAGothic"/>
              </a:defRPr>
            </a:pPr>
            <a:r>
              <a:t>M6: Gate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27AE60"/>
                </a:solidFill>
                <a:latin typeface="IPAGothic"/>
              </a:defRPr>
            </a:pPr>
            <a:r>
              <a:t>達成 → 松案移行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C0392B"/>
                </a:solidFill>
                <a:latin typeface="IPAGothic"/>
              </a:defRPr>
            </a:pPr>
            <a:r>
              <a:t>未達 → 竹延長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重点施策A：プロダクト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最優先はエンゲージメントスコアMVPとSalesforce連携強化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82880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施策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成果KPI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難易度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エンゲージメントスコアMVP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0-6M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5社導入、ARPA+20%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Salesforce連携強化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0-6M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連携率80%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AI日本語コンテンツ自動生成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6-12M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採用率30%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API-first化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6-18M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API網羅率80%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HubSpot/Marketo連携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12-18M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新規20社/年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重点施策B/C：営業 × 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業種別パッケージで成約率向上、CSをプロフィットセンター化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B2A4A"/>
                </a:solidFill>
                <a:latin typeface="IPAGothic"/>
              </a:defRPr>
            </a:pPr>
            <a:r>
              <a:t>B: 営業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19456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施策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成果KPI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業種別PKG×4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0-6M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成約率+5pt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価格体系再設計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6-12M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ARPA+15%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営業DX加速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0-12M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¥33M→¥121M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SFエコシステム販路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6-18M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月2件以上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B2A4A"/>
                </a:solidFill>
                <a:latin typeface="IPAGothic"/>
              </a:defRPr>
            </a:pPr>
            <a:r>
              <a:t>C: 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219456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施策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成果KPI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オンボーディング標準化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0-6M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60日完了90%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ヘルススコア導入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0-6M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解約予測70%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CS収益化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6-12M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年¥30M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C4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戦略アカウント管理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0-12M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Top20 NRR120%+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重点施策D：組織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「兼務→成果確認→専任化」の段階アプローチ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8288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施策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成果KPI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PMM機能新設(兼務)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M1-3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競合レポート月次化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D2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RevOps機能(兼務)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M3-6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ファネル可視化100%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戦略採用(AI/PMM/CS/SalesDX)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M1-12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+3-5名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D4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KPIオーナー制度導入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全主要KPIに個人名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0" y="4572000"/>
            <a:ext cx="1645920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PAGothic"/>
              </a:defRPr>
            </a:pPr>
            <a:r>
              <a:t>CEO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669280"/>
            <a:ext cx="1645920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PAGothic"/>
              </a:defRPr>
            </a:pPr>
            <a:r>
              <a:t>PMM(兼務)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5669280"/>
            <a:ext cx="1645920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PAGothic"/>
              </a:defRPr>
            </a:pPr>
            <a:r>
              <a:t>RevOps(兼務)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5669280"/>
            <a:ext cx="1645920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PAGothic"/>
              </a:defRPr>
            </a:pPr>
            <a:r>
              <a:t>Prod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5669280"/>
            <a:ext cx="1645920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PAGothic"/>
              </a:defRPr>
            </a:pPr>
            <a:r>
              <a:t>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5669280"/>
            <a:ext cx="1645920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PAGothic"/>
              </a:defRPr>
            </a:pPr>
            <a:r>
              <a:t>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36ヶ月ロードマップ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止血(0-6M) → 転換(6-18M) → 成長(18-36M)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74320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PAGothic"/>
              </a:defRPr>
            </a:pPr>
            <a:r>
              <a:t>Phase1: 止血・改善 (0-6M)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KPIオーナー全員アサイン(M1)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PMM兼務スタート(M1-3)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82880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オンボーディング標準化(M2)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46888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業種別PKG 4種(M3)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6888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ヘルススコア導入(M4-6)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46888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C0392B"/>
                </a:solidFill>
                <a:latin typeface="IPAGothic"/>
              </a:defRPr>
            </a:pPr>
            <a:r>
              <a:t>★スコアMVP完成 / Gate Review(M6)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74720"/>
            <a:ext cx="2743200" cy="128016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PAGothic"/>
              </a:defRPr>
            </a:pPr>
            <a:r>
              <a:t>Phase2: 転換・仕込み (6-18M)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47472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分析ティア化(M8)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価格3層構造(M9)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347472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AIコンテンツ生成(M10)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11480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CS収益化(M12)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営業DX ¥100M/年ペース(M12)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411480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C0392B"/>
                </a:solidFill>
                <a:latin typeface="IPAGothic"/>
              </a:defRPr>
            </a:pPr>
            <a:r>
              <a:t>★採用+3-5名 / Gate Review(M12)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120640"/>
            <a:ext cx="2743200" cy="12801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PAGothic"/>
              </a:defRPr>
            </a:pPr>
            <a:r>
              <a:t>Phase3: 成長加速 (18-36M)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512064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HubSpot/Marketo連携(M18-24)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12064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API-first完了(M24)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512064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リポジショニング完了(M24)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576072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売上¥1B突破(M24-30)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76072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0">
                <a:solidFill>
                  <a:srgbClr val="2C3E50"/>
                </a:solidFill>
                <a:latin typeface="IPAGothic"/>
              </a:defRPr>
            </a:pPr>
            <a:r>
              <a:t>営業DX ¥300M/年(M36)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5760720"/>
            <a:ext cx="2834640" cy="50292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C0392B"/>
                </a:solidFill>
                <a:latin typeface="IPAGothic"/>
              </a:defRPr>
            </a:pPr>
            <a:r>
              <a:t>★M&amp;A検討 / Gate Review(M36)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KPIツリー＆ガバナンス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North Star → 事業KPI → 先行KPIの因果連鎖を設計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828800"/>
            <a:ext cx="5760720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IPAGothic"/>
              </a:defRPr>
            </a:pPr>
            <a:r>
              <a:t>North Star: 顧客エンゲージメント成果価値（商談化寄与額）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56032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ARR成長率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743200"/>
            <a:ext cx="256032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NRR(目標110%+)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743200"/>
            <a:ext cx="256032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粗利率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743200"/>
            <a:ext cx="256032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IPAGothic"/>
              </a:defRPr>
            </a:pPr>
            <a:r>
              <a:t>顧客基盤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868680" cy="3657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C3E50"/>
                </a:solidFill>
                <a:latin typeface="IPAGothic"/>
              </a:defRPr>
            </a:pPr>
            <a:r>
              <a:t>MRR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474720"/>
            <a:ext cx="868680" cy="3657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C3E50"/>
                </a:solidFill>
                <a:latin typeface="IPAGothic"/>
              </a:defRPr>
            </a:pPr>
            <a:r>
              <a:t>新規MRR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474720"/>
            <a:ext cx="868680" cy="3657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C3E50"/>
                </a:solidFill>
                <a:latin typeface="IPAGothic"/>
              </a:defRPr>
            </a:pPr>
            <a:r>
              <a:t>営業DX売上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474720"/>
            <a:ext cx="868680" cy="3657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C3E50"/>
                </a:solidFill>
                <a:latin typeface="IPAGothic"/>
              </a:defRPr>
            </a:pPr>
            <a:r>
              <a:t>Expansion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474720"/>
            <a:ext cx="868680" cy="3657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C3E50"/>
                </a:solidFill>
                <a:latin typeface="IPAGothic"/>
              </a:defRPr>
            </a:pPr>
            <a:r>
              <a:t>Churn MRR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868680" cy="3657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C3E50"/>
                </a:solidFill>
                <a:latin typeface="IPAGothic"/>
              </a:defRPr>
            </a:pPr>
            <a:r>
              <a:t>ARPA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474720"/>
            <a:ext cx="868680" cy="3657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C3E50"/>
                </a:solidFill>
                <a:latin typeface="IPAGothic"/>
              </a:defRPr>
            </a:pPr>
            <a:r>
              <a:t>オプション売上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474720"/>
            <a:ext cx="868680" cy="3657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C3E50"/>
                </a:solidFill>
                <a:latin typeface="IPAGothic"/>
              </a:defRPr>
            </a:pPr>
            <a:r>
              <a:t>累計アカウント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3474720"/>
            <a:ext cx="868680" cy="3657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C3E50"/>
                </a:solidFill>
                <a:latin typeface="IPAGothic"/>
              </a:defRPr>
            </a:pPr>
            <a:r>
              <a:t>月次解約率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64240" y="3474720"/>
            <a:ext cx="868680" cy="365760"/>
          </a:xfrm>
          <a:prstGeom prst="roundRect">
            <a:avLst/>
          </a:prstGeom>
          <a:solidFill>
            <a:srgbClr val="F2F3F5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C3E50"/>
                </a:solidFill>
                <a:latin typeface="IPAGothic"/>
              </a:defRPr>
            </a:pPr>
            <a:r>
              <a:t>成約率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438912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206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会議体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頻度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参加者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議題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経営KPIレビュー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月次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CEO+KPIオーナー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KPI進捗確認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戦略レビュー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四半期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全マネージャー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戦略方向性確認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Gate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M6/M12/M18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経営層全員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投資継続判断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スプリントレビュー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隔週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開発チーム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実行進捗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本会議で決めること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2F3F5"/>
          </a:solidFill>
          <a:ln w="25400">
            <a:solidFill>
              <a:srgbClr val="C8A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1B2A4A"/>
                </a:solidFill>
                <a:latin typeface="IPAGothic"/>
              </a:defRPr>
            </a:pPr>
            <a:r>
              <a:t>今日決めなければ「何もしない」を選択したことになる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8288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267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決議内容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選択肢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推奨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投資配分(P45/GTM35/Org20)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A:承認/B:修正/C:保留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ポジショニング転換承認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A:承認/B:段階的/C:不承認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組織再編(PMM/RevOps/KPI)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A:承認/B:PMM先行/C:保留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90日実行計画承認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A:承認/B:範囲縮小/C:保留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Gate Review設定(M6)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A:承認/B:期間変更/C:保留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572000"/>
          <a:ext cx="11612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アクション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期限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KPIオーナーアサイン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CEO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1週間以内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PMM兼務者決定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マネージャー会議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2週間以内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スコアMVP要件定義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プロダクト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1ヶ月以内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業種別PKG設計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営業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1ヶ月以内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Gate Review日程確定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CEO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1週間以内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00"/>
              </a:lnSpc>
              <a:defRPr sz="3200" b="1">
                <a:solidFill>
                  <a:srgbClr val="FFFFFF"/>
                </a:solidFill>
                <a:latin typeface="IPAGothic"/>
              </a:defRPr>
            </a:pPr>
            <a:r>
              <a:t>ご清聴ありがとうございます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400" b="1">
                <a:solidFill>
                  <a:srgbClr val="C8A951"/>
                </a:solidFill>
                <a:latin typeface="IPAGothic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Appendix: 売上内訳詳細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1161287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2"/>
              </a:tblGrid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FY23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FY25P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FY26P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FY27P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売上合計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¥418M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¥497M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¥512M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¥649M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¥911M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¥1,382M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YoY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+19.0%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+3.1%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+26.7%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+40.3%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+51.6%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MRR年額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¥225M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¥252M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¥287M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¥330M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¥417M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¥526M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オプション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¥192M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¥244M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¥225M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¥319M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¥494M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¥855M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コンパウンド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¥17M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¥51M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営業DX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¥33M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¥121M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¥327M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Appendix: 解約率推移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5715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FY23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FY24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目標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月次解約率(長期)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年換算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24.3%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18.5%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11.4%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改善幅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-1.3pt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-0.6pt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-0.7pt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2C3E50"/>
                </a:solidFill>
                <a:latin typeface="IPAGothic"/>
              </a:defRPr>
            </a:pPr>
            <a:r>
              <a:t>SaaS優良企業の目安: 月次解約率 &lt; 0.42%（年5%以下）</a:t>
            </a:r>
            <a:br/>
            <a:r>
              <a:t>ネクプロは改善トレンドにあるが、目標到達にはCS施策の抜本強化が必要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Appendix: 市場データ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715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市場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2025(予)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2028(予)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法人向け動画配信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¥513B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¥635B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¥780B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¥1,529B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デジタルマーケ(CRM/MA)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¥3,672B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¥4,190B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+14.1%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グローバルWeb会議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$6.36B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$11.28B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Appendix: 競合プロファイル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ポジション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弱み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Zoom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汎用会議+ウェビナー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圧倒的認知度・低価格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日本適合△、分析浅い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ON24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IEP(データ分析型)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40-50データpt/人、AI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日本市場非注力、導入重い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EventHub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イベント管理統合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ハイブリッド対応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ウェビナー特化ではない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bizibl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簡単ウェビナー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低価格・簡単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分析・連携が弱い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FanGrowth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成果報酬型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リスク低い導入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機能限定的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V-CUBE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大規模配信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放送品質・運用支援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高コスト・SaaS的でない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Appendix: ON24ベンチマーク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ON24実績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IPAGothic"/>
                        </a:defRPr>
                      </a:pPr>
                      <a:r>
                        <a:t>示唆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AI Propel+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自動ブログ/メール/SNS/FAQ生成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コンテンツ二次活用が鍵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エンゲージメント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AIコンテンツで従来比7倍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データ駆動の効果は実証済み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デモリクエスト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パーソナライズで4倍増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個別最適化がCVR向上に直結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動画クリップ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YoY +2,903%（13万本+）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ウェビナー→ショート動画変換が主流に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Cvent買収額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ON24 ¥400億+Goldcast ¥300億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IPAGothic"/>
                        </a:defRPr>
                      </a:pPr>
                      <a:r>
                        <a:t>エンゲージメントデータの市場評価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Appendix: 想定Q&amp;A（厳しい質問10選）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1B2A4A"/>
                </a:solidFill>
                <a:latin typeface="IPAGothic"/>
              </a:defRPr>
            </a:pPr>
            <a:r>
              <a:t>Q1: 30名で同時実行できるのか？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2C3E50"/>
                </a:solidFill>
                <a:latin typeface="IPAGothic"/>
              </a:defRPr>
            </a:pPr>
            <a:r>
              <a:t>→ 竹案は5課題に絞る「選択と集中」。兼務→専任の段階アプローチ。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1B2A4A"/>
                </a:solidFill>
                <a:latin typeface="IPAGothic"/>
              </a:defRPr>
            </a:pPr>
            <a:r>
              <a:t>Q2: 結局ウェビナーツールの延長では？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2C3E50"/>
                </a:solidFill>
                <a:latin typeface="IPAGothic"/>
              </a:defRPr>
            </a:pPr>
            <a:r>
              <a:t>→ エンゲージメントスコアは「配信の先」。SF商談接続で新カテゴリー定義。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1B2A4A"/>
                </a:solidFill>
                <a:latin typeface="IPAGothic"/>
              </a:defRPr>
            </a:pPr>
            <a:r>
              <a:t>Q3: 営業DX ¥327Mは絵に描いた餅？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2C3E50"/>
                </a:solidFill>
                <a:latin typeface="IPAGothic"/>
              </a:defRPr>
            </a:pPr>
            <a:r>
              <a:t>→ FY25 ¥33Mがシード。Gate基準¥15M/半期。未達時ピボット。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1B2A4A"/>
                </a:solidFill>
                <a:latin typeface="IPAGothic"/>
              </a:defRPr>
            </a:pPr>
            <a:r>
              <a:t>Q4: Zoom/TeamsのAI搭載で勝てるか？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2C3E50"/>
                </a:solidFill>
                <a:latin typeface="IPAGothic"/>
              </a:defRPr>
            </a:pPr>
            <a:r>
              <a:t>→ 日本適合の構造的弱さ。12-18ヶ月でデータモート構築。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1B2A4A"/>
                </a:solidFill>
                <a:latin typeface="IPAGothic"/>
              </a:defRPr>
            </a:pPr>
            <a:r>
              <a:t>Q5: Salesforce依存は危険？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2C3E50"/>
                </a:solidFill>
                <a:latin typeface="IPAGothic"/>
              </a:defRPr>
            </a:pPr>
            <a:r>
              <a:t>→ 依存ではなくエコシステム活用。中期でHubSpot/Marketo展開。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400" b="1">
                <a:solidFill>
                  <a:srgbClr val="FFFFFF"/>
                </a:solidFill>
                <a:latin typeface="IPAGothic"/>
              </a:defRPr>
            </a:pPr>
            <a:r>
              <a:t>Appendix: 想定Q&amp;A（続き）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1B2A4A"/>
                </a:solidFill>
                <a:latin typeface="IPAGothic"/>
              </a:defRPr>
            </a:pPr>
            <a:r>
              <a:t>Q6: 解約率1.0%は現実的？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2C3E50"/>
                </a:solidFill>
                <a:latin typeface="IPAGothic"/>
              </a:defRPr>
            </a:pPr>
            <a:r>
              <a:t>→ FY22:3.6%→FY24:1.7%と改善中。Gate基準は1.3%(バッファ付き)。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1B2A4A"/>
                </a:solidFill>
                <a:latin typeface="IPAGothic"/>
              </a:defRPr>
            </a:pPr>
            <a:r>
              <a:t>Q7: PMM/RevOps兼務で機能する？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2C3E50"/>
                </a:solidFill>
                <a:latin typeface="IPAGothic"/>
              </a:defRPr>
            </a:pPr>
            <a:r>
              <a:t>→ 兼務3-6ヶ月→成果で専任化。30名で最初から専任は非現実的。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1B2A4A"/>
                </a:solidFill>
                <a:latin typeface="IPAGothic"/>
              </a:defRPr>
            </a:pPr>
            <a:r>
              <a:t>Q8: FY26-27計画は攻めすぎ？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2C3E50"/>
                </a:solidFill>
                <a:latin typeface="IPAGothic"/>
              </a:defRPr>
            </a:pPr>
            <a:r>
              <a:t>→ 竹案FY27は¥930M(仮説)。松案¥1,382Mは条件付き目標。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1B2A4A"/>
                </a:solidFill>
                <a:latin typeface="IPAGothic"/>
              </a:defRPr>
            </a:pPr>
            <a:r>
              <a:t>Q9: bizibl/FanGrowthとの差別化？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2C3E50"/>
                </a:solidFill>
                <a:latin typeface="IPAGothic"/>
              </a:defRPr>
            </a:pPr>
            <a:r>
              <a:t>→ 「簡単・安い」vs「データ深度×SF×伴走」。競合軸が異なる。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1B2A4A"/>
                </a:solidFill>
                <a:latin typeface="IPAGothic"/>
              </a:defRPr>
            </a:pPr>
            <a:r>
              <a:t>Q10: ウェビナー市場は縮小しない？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2C3E50"/>
                </a:solidFill>
                <a:latin typeface="IPAGothic"/>
              </a:defRPr>
            </a:pPr>
            <a:r>
              <a:t>→ 逆に拡大(13→47回/年)。「配信だけ」は縮小、「データ活用」は成長。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95A5A6"/>
                </a:solidFill>
                <a:latin typeface="IPA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