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eiryo"/>
              </a:rPr>
              <a:t>ネクプロ 全社戦略提案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6B00"/>
                </a:solidFill>
                <a:latin typeface="Meiryo"/>
              </a:rPr>
              <a:t>ウェビナーツールから、B2B成長インフラへ。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7315200" cy="274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F4F6"/>
                </a:solidFill>
                <a:latin typeface="Meiryo"/>
              </a:rPr>
              <a:t>アジェンダ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eiryo"/>
              </a:rPr>
              <a:t>1.  なぜ今、転換が必要か（外部環境・競合・顧客変化）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eiryo"/>
              </a:rPr>
              <a:t>2.  どこを目指すか（ビジョン・戦略・ロードマップ）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eiryo"/>
              </a:rPr>
              <a:t>3.  今日決めること（資源配分・ポジショニング・組織）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eiryo"/>
              </a:rPr>
              <a:t>2026年3月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配信ツールに留まれば死ぬ。データ基盤に転換すれば勝てる。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エグゼクティブサマリー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27048"/>
            <a:ext cx="251460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36776"/>
            <a:ext cx="2331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eiryo"/>
              </a:rPr>
              <a:t>危険地帯
（成長性：高 / 競争力：低）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1527048"/>
            <a:ext cx="2514600" cy="960120"/>
          </a:xfrm>
          <a:prstGeom prst="rect">
            <a:avLst/>
          </a:prstGeom>
          <a:solidFill>
            <a:srgbClr val="FFEDD5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636776"/>
            <a:ext cx="2331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Meiryo"/>
              </a:rPr>
              <a:t>★ 目標
エンゲージメント基盤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51460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51760"/>
            <a:ext cx="2331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eiryo"/>
              </a:rPr>
              <a:t>→ 現在地
（配信ツール）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0672" y="2542032"/>
            <a:ext cx="251460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2651760"/>
            <a:ext cx="2331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eiryo"/>
              </a:rPr>
              <a:t>維持地帯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Meiryo"/>
              </a:rPr>
              <a:t>成長性 ↑ / 競争力 →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80760" y="1527048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軸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現状（FY24）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目標（FY27）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事業定義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ウェビナー配信ツール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B2Bエンゲージメント基盤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ARR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¥512M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¥1,382M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MRR解約率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1.7%/月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1.0%/月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ARPA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¥150K/月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¥204K/月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新収益柱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¥378M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381304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Meiryo"/>
              </a:rPr>
              <a:t>本日の意思決定（3点）: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97096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① 資源配分：プロダクト 45% / GTM 35% / 組織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81144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② ポジショニング転換：「ウェビナーツール」→「エンゲージメント基盤」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65192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③ 組織再編：PMM / RevOps 兼務設置 + KPI オーナー制度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AIはUIを圧縮する。データを持つ者が勝つ。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外部環境：SaaSの構造変化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27048"/>
            <a:ext cx="5303520" cy="914400"/>
          </a:xfrm>
          <a:prstGeom prst="rect">
            <a:avLst/>
          </a:prstGeom>
          <a:solidFill>
            <a:srgbClr val="FFEDD5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Meiryo"/>
              </a:rPr>
              <a:t>AIエージェント（実行層）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7556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Meiryo"/>
              </a:rPr>
              <a:t>↑ 拡大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530352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Meiryo"/>
              </a:rPr>
              <a:t>SaaS UI（圧縮対象）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7157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Meiryo"/>
              </a:rPr>
              <a:t>↓ コモディティ化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47288"/>
            <a:ext cx="5303520" cy="914400"/>
          </a:xfrm>
          <a:prstGeom prst="rect">
            <a:avLst/>
          </a:prstGeom>
          <a:solidFill>
            <a:srgbClr val="DBEAFE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758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Meiryo"/>
              </a:rPr>
              <a:t>データ基盤（価値増大）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67588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Meiryo"/>
              </a:rPr>
              <a:t>↑ 勝ち残り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72200" y="1527048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ファクト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数値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SaaSstock 市場消失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$2,850億（2026年2月）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バーティカルSaaS 年初来下落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−43%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AIエージェントPJ中止予測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40%以上（2027年末 / Gartner）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日本ウェビナーSaaS AI統合遅れ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12〜18 ヶ月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45445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Meiryo"/>
              </a:rPr>
              <a:t>ネクプロへの示唆: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28616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配信機能 = AIが蚕食する戦場（battleground）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94376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エンゲージメントデータ = AI活用で価値増大（gold mine）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顧客が買うのは「配信機能」ではなく「商談と売上」。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顧客の本当の課題（JTBD）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27048"/>
            <a:ext cx="11183112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45720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  <a:latin typeface="Meiryo"/>
              </a:rPr>
              <a:t>ウェビナーを「やらされている」企業。
専任者なし、予算薄、ノウハウなし。でも捨てられない施策。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41448"/>
            <a:ext cx="5554980" cy="32918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87168"/>
            <a:ext cx="54086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Pain — 現状の痛み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7628" y="2441448"/>
            <a:ext cx="5554980" cy="32918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9068" y="2487168"/>
            <a:ext cx="54086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Gain — 目指す状態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07208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• 申込・視聴・商談のデータが繋がらない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9068" y="2807208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• 「なんとなく回る」→ 「成果の根拠がある」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91256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• ROI説明できない → 予算取れない → 改善不可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068" y="3191256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• 胸を張って予算を取りに行ける施策に転換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575304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• 視聴52分（メール3秒の1,040倍）が未計測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3575304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• ウェビナー = コストから「投資」へ変える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4041648"/>
          <a:ext cx="11064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6926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部門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本当に必要なもの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マーケ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良質リードの証明（MA連携・スコアリング）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営業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温度感の見える化（視聴ログ → 商談優先順位）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経営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施策ROIの可視化（投資対効果の数字）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3つのモートで「配信戦争」から離脱する。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競合マップと自社の立ち位置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27048"/>
            <a:ext cx="5303520" cy="3108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71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Meiryo"/>
              </a:rPr>
              <a:t>日本企業適合性 高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725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Meiryo"/>
              </a:rPr>
              <a:t>データ活用高度性 高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2029968"/>
            <a:ext cx="237744" cy="2377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Meiryo"/>
              </a:rPr>
              <a:t>EventHub / bizibl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0470" y="3646627"/>
            <a:ext cx="237744" cy="2377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" y="337230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Meiryo"/>
              </a:rPr>
              <a:t>Zoom /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3211372"/>
            <a:ext cx="237744" cy="2377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9370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Meiryo"/>
              </a:rPr>
              <a:t>ON24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0984" y="2278684"/>
            <a:ext cx="237744" cy="23774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0043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00"/>
                </a:solidFill>
                <a:latin typeface="Meiryo"/>
              </a:rPr>
              <a:t>ネクプロ（現在）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2934" y="1656892"/>
            <a:ext cx="237744" cy="23774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7174" y="13825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00"/>
                </a:solidFill>
                <a:latin typeface="Meiryo"/>
              </a:rPr>
              <a:t>ネクプロ（目標）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80760" y="1527048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3949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モート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Japan Enterprise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日本特有の業務運用（稟議・インボイス・監査）への深度適合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Salesforce Native ROI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エンゲージメント×売上データを1画面で可視化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Dual-ID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顧客データ資産を保護しながら自社ID資産を積み上げる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02920" y="4818888"/>
            <a:ext cx="11183112" cy="502920"/>
          </a:xfrm>
          <a:prstGeom prst="rect">
            <a:avLst/>
          </a:prstGeom>
          <a:solidFill>
            <a:srgbClr val="FFEDD5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1032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Meiryo"/>
              </a:rPr>
              <a:t>⚡  ON24のCvent買収（2025年12月）で日本市場の優先度が低下。今が先行する最大の時間的窓。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「作る・集める・売る」を統合するプラットフォームへ。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事業戦略：Global B2B Growth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27048"/>
            <a:ext cx="3566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3566160" cy="594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8191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"/>
              </a:rPr>
              <a:t>AI Production
（作る）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AI字幕・要約・翻訳
コンテンツ再資産化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Meiryo"/>
              </a:rPr>
              <a:t>制作コスト・リードタイム削減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527048"/>
            <a:ext cx="3566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527048"/>
            <a:ext cx="3566160" cy="594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158191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"/>
              </a:rPr>
              <a:t>Open Media
（集める）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240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公開メディア基盤
SEO・レコメンドエンジン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218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Meiryo"/>
              </a:rPr>
              <a:t>新規流入の継続的獲得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72984" y="1527048"/>
            <a:ext cx="3566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72984" y="1527048"/>
            <a:ext cx="3566160" cy="594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4424" y="158191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"/>
              </a:rPr>
              <a:t>Revenue Intelligence
（売る）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240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エンゲージメントスコア
ROIダッシュボード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3218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Meiryo"/>
              </a:rPr>
              <a:t>施策 → 売上の可視化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79976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SaaS × BPaaS × コミュニティ:  プロダクトだけでは届かない「ノウハウと人材の不足」をBPaaSで補完。コミュニティが実践知の循環を生む。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利用がそのまま集客とデータ蓄積になる自己強化ループ。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フライホイール設計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72768"/>
            <a:ext cx="2377440" cy="621792"/>
          </a:xfrm>
          <a:prstGeom prst="rect">
            <a:avLst/>
          </a:prstGeom>
          <a:solidFill>
            <a:srgbClr val="FF6B00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824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eiryo"/>
              </a:rPr>
              <a:t>AI制作（Input）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572768"/>
            <a:ext cx="2377440" cy="621792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824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コンテンツ公開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350008"/>
            <a:ext cx="2377440" cy="621792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597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検索・自然流入（Traffic）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127248"/>
            <a:ext cx="2377440" cy="621792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23697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エンゲージメント（Insight）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27248"/>
            <a:ext cx="2377440" cy="621792"/>
          </a:xfrm>
          <a:prstGeom prst="rect">
            <a:avLst/>
          </a:prstGeom>
          <a:solidFill>
            <a:srgbClr val="FFEDD5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3697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Meiryo"/>
              </a:rPr>
              <a:t>ROI可視化・商談創出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350008"/>
            <a:ext cx="2377440" cy="621792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597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Meiryo"/>
              </a:rPr>
              <a:t>顧客成功・事例蓄積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044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Meiryo"/>
              </a:rPr>
              <a:t>→ → ↓ ← ← ↑  （自己強化ループ）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46520" y="1572768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先行KPI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遅行KPI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コンテンツ公開本数 / 自然流入率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MQL化率 / 受注寄与率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エンゲージメントスコア平均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ARPA / NRR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オンボーディング完了率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月次解約率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日本企業運用の複雑性が最大の参入障壁になる。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モート①：Japan Enterprise Ops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27048"/>
          <a:ext cx="8961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要件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ネクプロ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Zoom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ON24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Teams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日本語運用ネイティブ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6B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稟議・インボイス対応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6B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ISMS認証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6B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伴走型CS（日本語）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6B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官公庁・医療対応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6B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087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Meiryo"/>
              </a:rPr>
              <a:t>日本市場固有の参入コスト（グローバル勢の再現困難な理由）: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71416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SaaS浸透率：日本 4%（米国 15〜18%）→ 導入支援・伴走CSが必須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55464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デジタル人材不足：2026年までに 230万人不足 → 運用代行ニーズ急増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39512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言語の壁：日本語バイヤーの 72% が母国語コンテンツ・サポートを選好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エンゲージメント×売上データを1画面で見せるのはネクプロだけ。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モート②：Salesforce Native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Meiryo"/>
              </a:rPr>
              <a:t>Salesforce 内で完結する分析: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コンテンツ接触履歴（ウェビナー参加・視聴ログ）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22576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商談化・受注との相関（エンゲージメントスコア × Salesforce 商談）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88336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• 次アクション提案（Agentforce との連携）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3035808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384048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ツール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配信データ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CRM連携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ROI可視化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ネクプロ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 Salesforceネイティブ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◎（ロードマップ）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Zoom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○ API連携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MA単体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ON24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 Eloqua/Marketo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◎ ACE AI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5093208"/>
            <a:ext cx="11183112" cy="475488"/>
          </a:xfrm>
          <a:prstGeom prst="rect">
            <a:avLst/>
          </a:prstGeom>
          <a:solidFill>
            <a:srgbClr val="FFEDD5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8464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Meiryo"/>
              </a:rPr>
              <a:t>⚡  Agentforce統合：国内最先行。ただし「序章」にすぎない — 本番はROIダッシュボード完成後。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AI×データ×メディアの3フェーズで基盤を構築する。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製品ロードマップ（0〜18ヶ月）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27048"/>
          <a:ext cx="110642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6766560"/>
              </a:tblGrid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フェーズ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期間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テーマ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主要リリース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Phase 1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0〜6ヶ月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止血・種まき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AI字幕/要約/翻訳、Salesforce埋め込みβ、エンゲージメントスコアMVP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Phase 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6〜12ヶ月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転換・仕込み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公開メディア基盤、AIコンテンツ再資産化、レコメンドα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Phase 3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12〜18ヶ月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成長・回収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ROIダッシュボード正式版、業種別BPaaSパッケージ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864608"/>
            <a:ext cx="11183112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64608"/>
            <a:ext cx="45720" cy="5303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56048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Meiryo"/>
              </a:rPr>
              <a:t>Gate Review（M6）: KPI達成（解約率1.3%以下 / エンゲージメントスコアMVP 5社導入）を条件に攻勢型（松案）へ移行判断。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ARR ¥512M → ¥1,382M の道筋と3つの収益柱。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GTMと財務計画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27048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収益源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FY24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FY25計画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FY26計画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FY27計画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MRR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¥287.8M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¥330M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¥417.4M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¥526.8M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オプションサービス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¥227.1M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¥319.8M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¥494.5M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¥856M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新収益柱（コンパウンド+営業DX）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¥36.7M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¥138.8M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¥378M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合計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¥512.8M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¥649.8M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¥911.9M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¥1,382.8M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968496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軌道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対象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スイッチ軌道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Zoomでは足りないと感じた企業へのリポジション提案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既存市場の深耕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BPaaS軌道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運用代行から始まりSaaSへ育てるハイタッチ型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新規市場の開拓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38928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Meiryo"/>
              </a:rPr>
              <a:t>資源配分:  プロダクト 45%  /  GTM 35%  /  組織 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1183112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118311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08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Meiryo"/>
              </a:rPr>
              <a:t>今日この場で決めなければ、「何もしない」という選択を自動的にしたことになる。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00"/>
                </a:solidFill>
                <a:latin typeface="Meiryo"/>
              </a:rPr>
              <a:t>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37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Meiryo"/>
              </a:rPr>
              <a:t>Confidential  |  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Meiryo"/>
              </a:rPr>
              <a:t>本日のお願い（3つの意思決定）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27048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778240"/>
                <a:gridCol w="13716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#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決議内容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推奨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決議1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資源配分の承認（プロダクト 45% / GTM 35% / 組織 20%）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✅ 承認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決議2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ポジショニング転換の承認（「ウェビナーツール」→「B2Bエンゲージメント基盤」）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✅ 承認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決議3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組織再編の承認（PMM兼務・RevOps兼務・KPIオーナー制度・90日実行計画）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✅ 承認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65760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Meiryo"/>
              </a:rPr>
              <a:t>承認後の即時アクション（Next Steps）: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041648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56032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アクション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担当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期限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KPIオーナー全員アサイン通知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CEO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1週間以内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PMM兼務者の選定・辞令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CEO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2週間以内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エンゲージメントスコアMVP要件定義キックオフ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プロダクト責任者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2週間以内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業種別パッケージ作成チーム組成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営業責任者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2週間以内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月次KPIレビュー初回日程設定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COO相当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eiryo"/>
                        </a:rPr>
                        <a:t>1週間以内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